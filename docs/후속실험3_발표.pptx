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고치기 전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LS 평가 행</c:v>
                  </c:pt>
                  <c:pt idx="1">
                    <c:v>양성률 (%)</c:v>
                  </c:pt>
                  <c:pt idx="2">
                    <c:v>AUC 정의 이벤트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</c:v>
                </c:pt>
                <c:pt idx="1">
                  <c:v>84</c:v>
                </c:pt>
                <c:pt idx="2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고친 뒤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LS 평가 행</c:v>
                  </c:pt>
                  <c:pt idx="1">
                    <c:v>양성률 (%)</c:v>
                  </c:pt>
                  <c:pt idx="2">
                    <c:v>AUC 정의 이벤트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418</c:v>
                </c:pt>
                <c:pt idx="1">
                  <c:v>25.1</c:v>
                </c:pt>
                <c:pt idx="2">
                  <c:v>9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  <c:min val="0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0.8778</c:v>
                </c:pt>
                <c:pt idx="1">
                  <c:v>0.8778</c:v>
                </c:pt>
                <c:pt idx="2">
                  <c:v>0.8778</c:v>
                </c:pt>
                <c:pt idx="3">
                  <c:v>0.9023</c:v>
                </c:pt>
                <c:pt idx="4">
                  <c:v>0.9023</c:v>
                </c:pt>
                <c:pt idx="5">
                  <c:v>0.885</c:v>
                </c:pt>
                <c:pt idx="6">
                  <c:v>0.885</c:v>
                </c:pt>
                <c:pt idx="7">
                  <c:v>0.8969</c:v>
                </c:pt>
                <c:pt idx="8">
                  <c:v>0.8776</c:v>
                </c:pt>
                <c:pt idx="9">
                  <c:v>0.8967</c:v>
                </c:pt>
                <c:pt idx="10">
                  <c:v>0.8373</c:v>
                </c:pt>
                <c:pt idx="11">
                  <c:v>0.885</c:v>
                </c:pt>
                <c:pt idx="12">
                  <c:v>0.885</c:v>
                </c:pt>
                <c:pt idx="13">
                  <c:v>0.885</c:v>
                </c:pt>
                <c:pt idx="14">
                  <c:v>0.885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0.7925</c:v>
                </c:pt>
                <c:pt idx="1">
                  <c:v>0.8426</c:v>
                </c:pt>
                <c:pt idx="2">
                  <c:v>0.8405</c:v>
                </c:pt>
                <c:pt idx="3">
                  <c:v>0.8638</c:v>
                </c:pt>
                <c:pt idx="4">
                  <c:v>0.8646</c:v>
                </c:pt>
                <c:pt idx="5">
                  <c:v>0.8607</c:v>
                </c:pt>
                <c:pt idx="6">
                  <c:v>0.8496</c:v>
                </c:pt>
                <c:pt idx="7">
                  <c:v>0.8812</c:v>
                </c:pt>
                <c:pt idx="8">
                  <c:v>0.849</c:v>
                </c:pt>
                <c:pt idx="9">
                  <c:v>0.8435</c:v>
                </c:pt>
                <c:pt idx="10">
                  <c:v>0.8379</c:v>
                </c:pt>
                <c:pt idx="11">
                  <c:v>0.8646</c:v>
                </c:pt>
                <c:pt idx="12">
                  <c:v>0.862</c:v>
                </c:pt>
                <c:pt idx="13">
                  <c:v>0.865</c:v>
                </c:pt>
                <c:pt idx="14">
                  <c:v>0.8466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보탠 양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-0.0853</c:v>
                </c:pt>
                <c:pt idx="1">
                  <c:v>-0.0352</c:v>
                </c:pt>
                <c:pt idx="2">
                  <c:v>-0.0372</c:v>
                </c:pt>
                <c:pt idx="3">
                  <c:v>-0.0385</c:v>
                </c:pt>
                <c:pt idx="4">
                  <c:v>-0.0377</c:v>
                </c:pt>
                <c:pt idx="5">
                  <c:v>-0.0243</c:v>
                </c:pt>
                <c:pt idx="6">
                  <c:v>-0.0354</c:v>
                </c:pt>
                <c:pt idx="7">
                  <c:v>-0.0157</c:v>
                </c:pt>
                <c:pt idx="8">
                  <c:v>-0.0286</c:v>
                </c:pt>
                <c:pt idx="9">
                  <c:v>-0.0532</c:v>
                </c:pt>
                <c:pt idx="10">
                  <c:v>0.0005</c:v>
                </c:pt>
                <c:pt idx="11">
                  <c:v>-0.0204</c:v>
                </c:pt>
                <c:pt idx="12">
                  <c:v>-0.023</c:v>
                </c:pt>
                <c:pt idx="13">
                  <c:v>-0.02</c:v>
                </c:pt>
                <c:pt idx="14">
                  <c:v>-0.0384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15"/>
          <c:min val="-0.1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-0.097</c:v>
                </c:pt>
                <c:pt idx="1">
                  <c:v>0.436</c:v>
                </c:pt>
                <c:pt idx="2">
                  <c:v>0.715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-0.103</c:v>
                </c:pt>
                <c:pt idx="1">
                  <c:v>0.256</c:v>
                </c:pt>
                <c:pt idx="2">
                  <c:v>0.501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-0.2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MSE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0.1525</c:v>
                </c:pt>
                <c:pt idx="1">
                  <c:v>0.1498</c:v>
                </c:pt>
                <c:pt idx="2">
                  <c:v>0.147</c:v>
                </c:pt>
                <c:pt idx="3">
                  <c:v>0.1275</c:v>
                </c:pt>
                <c:pt idx="4">
                  <c:v>0.1242</c:v>
                </c:pt>
                <c:pt idx="5">
                  <c:v>0.3683</c:v>
                </c:pt>
                <c:pt idx="6">
                  <c:v>0.1409</c:v>
                </c:pt>
                <c:pt idx="7">
                  <c:v>0.1148</c:v>
                </c:pt>
                <c:pt idx="8">
                  <c:v>0.1555</c:v>
                </c:pt>
                <c:pt idx="9">
                  <c:v>0.1429</c:v>
                </c:pt>
                <c:pt idx="10">
                  <c:v>0.7068</c:v>
                </c:pt>
                <c:pt idx="11">
                  <c:v>0.3685</c:v>
                </c:pt>
                <c:pt idx="12">
                  <c:v>0.3685</c:v>
                </c:pt>
                <c:pt idx="13">
                  <c:v>0.3684</c:v>
                </c:pt>
                <c:pt idx="14">
                  <c:v>0.1469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8"/>
          <c:min val="0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 (2번)</c:v>
                  </c:pt>
                  <c:pt idx="1">
                    <c:v>자연+혼재 (4번)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0.8778</c:v>
                </c:pt>
                <c:pt idx="1">
                  <c:v>0.9023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C977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 (2번)</c:v>
                  </c:pt>
                  <c:pt idx="1">
                    <c:v>자연+혼재 (4번)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0.8426</c:v>
                </c:pt>
                <c:pt idx="1">
                  <c:v>0.8638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3"/>
          <c:min val="0.8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평가 집합이 편향돼 있었고, 그걸 고치니 이전 결론 둘이 뒤집혔다는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(2)가 이번 개정의 핵심. 나머지는 그것을 제대로 보기 위한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부트스트랩: A −0.017 [−0.039,+0.007], C +0.011 [−0.011,+0.035], E −0.039 [−0.064,−0.012].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1168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집합을 고치니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결론이 뒤집혔다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0233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정답의 69%가 평가에서 빠져 있었다. 되돌리자 양성률이 84%에서 25%로 내려가면서,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“잘 맞는다”던 조건이 사실은 확률을 0.44만큼 과대추정하고 있었던 것으로 드러났다.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57860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32,865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말하기 전에 — 세 가지를 고쳐야 했다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365760" cy="365760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938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8196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기준선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081528" y="18196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 → 자기 prior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1488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조건의 prior는 z = a·log p̄ + b + c·log k 라 원값과 순위가 다르다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2807208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7340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GT의 NA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81528" y="27340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→ 0으로 포함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0632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NA를 0으로 세는데 LS만 뺐다. 그런데 GT 439행 중 304행(69%)이 NA였다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721608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67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36484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중심화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081528" y="3648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→ 규칙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39776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-ctr 이름이 붙은 조건만 중심화해서 B·C·D·J는 b를 학습하는데도 빠져 있었다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70916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" y="489204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이 중 (2)가 이전 결론 두 개를 뒤집었다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5239512"/>
            <a:ext cx="10515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“A fixed(유도식)가 LS 눈금이 완벽하다”(편향 +0.006)  →  정반대. 편향 +0.436, MSE 0.3683.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“b를 학습하면 LS 눈금이 무너진다”(편향 −0.27)  →  반대. C bounded 편향 +0.009, MSE 0.1148.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양성률 84%짜리 집합에서 잰 값이었다. 음성이 될 행이 대부분 빠져 있어서 확률을 크게 부풀리는 모형이 “잘 맞는 모형”으로 보였다.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정답의 69%가 빠져 있었다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LQ가 서로 다른 NA 규칙으로 돌고 있었다. LQ의 jshis_flag는 NA를 0으로 세는데 LS는 평가에서 뺐다.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16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지표를 한 축에 놓았다 — 행 수·퍼센트·개수라 크기만 비교한다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223760" y="2103120"/>
            <a:ext cx="4389120" cy="1920240"/>
          </a:xfrm>
          <a:prstGeom prst="roundRect">
            <a:avLst>
              <a:gd name="adj" fmla="val 285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2286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 439행 중 304행이 NA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633472"/>
            <a:ext cx="3840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이벤트 6개: 1=64, 0=15, NA=178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ls_area_ha 이벤트 3개: &gt;0=49, =0=7, NA=126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없다는 것은 그 시정촌에서 산사태가 확인되지 않았다는 뜻이므로 0으로 센다.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4206240"/>
            <a:ext cx="438912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3891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달라지나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736592"/>
            <a:ext cx="3840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기저확률 0.1344 → 0.1881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 2,100 → 32,865 (16배)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불확실성이 크게 줄어 작은 차이도 판별할 수 있게 됐다.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돌렸나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갈래 모두 같은 데이터·같은 seed. 조건마다 브랜치가 다르고, 면적 항은 prior.py / loader.py 자체가 다르다.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GT는 학습에 전혀 쓰지 않는다 — 평가 전용이다.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9728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(기존 GT)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(자연+혼재)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352544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6928" y="43982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15568" y="42976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459028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3개. b 상한을 4 / 10으로 넓혀 안쪽에서 멈추는지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5102352"/>
            <a:ext cx="365760" cy="365760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51480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50474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" y="5340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2개. 학습은 그대로 두고 LS 정답만 좁힌다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585216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5897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115568" y="579729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" y="608990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10개. z = a·log p̄ + b + c·log k 의 a·b·c를 어떻게 다룰지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035040" y="2377440"/>
            <a:ext cx="5577840" cy="1609344"/>
          </a:xfrm>
          <a:prstGeom prst="roundRect">
            <a:avLst>
              <a:gd name="adj" fmla="val 3409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09360" y="25603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lam_gamma = 10 · 3000 epoch · seed 0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907792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10개 조건 모두 lam_gamma=10이 최선이었다.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회귀·likelihood 파라미터 44개는 모든 조건에서 학습한다. 표의 ‘학습’은 prior의 a·b·c 중 학습 개수다.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설계 ① — 갈래 ②·③ (교수님 지시)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항이 없는 조건이다. prior 식은  z = a·logit(p̄) + b  하나뿐이고, 여기서 a는 USGS 값을 얼마나 믿을지(기울기), b는 확률 수준을 위아래로 옮기는 값(높이)이다.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39696"/>
          <a:ext cx="110642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1600200"/>
                <a:gridCol w="914400"/>
                <a:gridCol w="1051560"/>
                <a:gridCol w="1234440"/>
                <a:gridCol w="1005840"/>
                <a:gridCol w="469087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NLL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6314.7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6288.3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LQ만 집계 방식이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6305.5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6301.4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6301.4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 모델 그대로. 정답만 자연+혼재로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모델 그대로. 정답만 자연+혼재로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773168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9560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b를 넓혀도 계속 상한에 붙는다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303520"/>
            <a:ext cx="4846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게 아니라 잘린 것이라 상한을 4 → 10으로 넓혀 봤는데 3.954 / 9.523 으로 또 끝에 붙는다. 3번과 6번의 차이는 LQ를 시정촌 안 격자들의 평균으로 볼지 최대로 볼지 하나뿐이다.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773168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9560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은 모델을 다시 학습하지 않는다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303520"/>
            <a:ext cx="4846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 정답을 전혀 쓰지 않으므로 같은 seed면 모델이 똑같고 채점 기준만 바뀐다. 자연·혼재 → 양성 / 인공 → 음성(채점 포함) / 불명 → 채점 제외.  418행 → 398행.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설계 ② — 갈래 ④ 면적 항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385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'발생 확률'이 아니라 '격자 한 칸 중 덮이는 면적 비율'이다. 그래서 넓은 시정촌일수록 한 곳이라도 무너질 확률이 높다. 그 면적을 식에 넣은 것이 c·log k 항이고, 유도대로면 a=1, b=0, c=1 이다. 면적 항이 있는 조건만 logit이 아니라 log를 쓰는 이유도 면적을 곱셈(λ = p̄·k)으로 넣으려면 로그가 되어야 하기 때문이다.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15184"/>
          <a:ext cx="110642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384048"/>
                <a:gridCol w="1024128"/>
                <a:gridCol w="713232"/>
                <a:gridCol w="786384"/>
                <a:gridCol w="713232"/>
                <a:gridCol w="713232"/>
                <a:gridCol w="713232"/>
                <a:gridCol w="713232"/>
                <a:gridCol w="548640"/>
                <a:gridCol w="4187952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mode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함. 유도식 그대로 — 기준점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USGS의 힘과 같게 묶고 크기만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a1-c05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a1-c2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면적 영향만 절반 (LS는 A와 동일)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면적 영향만 데이터가 고른다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 그대로, 확률 높이만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 값을 얼마나 믿을지(기울기)     b = 확률 수준을 위아래로 옮기는 값(높이)     c = 시정촌 면적을 얼마나 반영할지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972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우리가 만든 G·H·I     초록: 민지님이 요청한 J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B·C·D·J는 b 범위가 [−20, 20]이고 log k를 평균 중심화한다(m = LS 8.042 / LQ 6.656). 나머지는 b=0 고정이라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한 장 — 산사태 LS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짧으면 피해 데이터가 오히려 깎았다는 뜻이다.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가로축은 0.5(무작위)에서 시작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짧다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posterior가 자기 prior를 넘은 것은 F 하나뿐이고 그마저 +0.0005다.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4·5번은 자연+혼재 GT라 prior 기준선이 0.878 → 0.902로 함께 올라간다.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쌍이 32,865개로 16배 늘었는데도 방향이 바뀌지 않았다.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한 장 — 액상화 LQ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방식으로 LQ를 본다. 이쪽은 방향이 반대다.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가로축은 0.5(무작위)에서 시작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posterior가 더 길다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LQ에서는 13개 조건이 자기 prior를 넘는다(+0.003 ~ +0.040). J가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좋아진 prior를 모델이 오히려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데이터가 LS에 보탠 양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AUC − 자기 prior AUC (가중평균). 0보다 커야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01000" y="20116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2194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음수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2542032"/>
            <a:ext cx="3063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양수 F(+0.0005)는 LS MSE 0.7068, 편향 +0.715로 다른 모든 지표에서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쌍이 32,865개로 16배 늘었는데도 방향이 바뀌지 않는다.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429768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75320" y="4480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반대다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4828032"/>
            <a:ext cx="30632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LQ에서는 대부분 보탠다(+0.003 ~ +0.040).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모델에서 피해 데이터가 LS에 보태는 것이 없다는 것이 이번 실험의 가장 큰 발견이다.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= 1 은 확률을 부풀린다 — 두 hazard 모두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칸 면적 중 덮일 비율이다. 칸이 독립이면 λ = p̄ × k 이고 순위가 같은 log λ 를 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c = 1이 유도식 그대로다 — 그런데 그 독립 가정이 맞지 않는다.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86000"/>
          <a:ext cx="6400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16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= 평균 예측확률 − 실제 양성률 (LS 0.251 / LQ 0.476)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223760" y="2286000"/>
            <a:ext cx="4389120" cy="1783080"/>
          </a:xfrm>
          <a:prstGeom prst="roundRect">
            <a:avLst>
              <a:gd name="adj" fmla="val 307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24688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판이 왜 반대로 보였나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816352"/>
            <a:ext cx="38404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집합이 양성 84%였다. 그러면 “거의 다 양성이라 찍는 모형”이 잘 맞는 것처럼 보인다.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양성률이 0.251로 내려가자 A fixed의 평균 예측 0.687이 정체를 드러냈다.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4251960"/>
            <a:ext cx="4389120" cy="1691640"/>
          </a:xfrm>
          <a:prstGeom prst="roundRect">
            <a:avLst>
              <a:gd name="adj" fmla="val 3243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4348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LS의 최적 c도 0.5~1 사이다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782312"/>
            <a:ext cx="3840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LQ와 같은 방향이다. 칸이 공간적으로 상관되어 1 − ∏(1−pᵢ)가 과대추정한다는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“LS는 유도식 c=1이 맞다”는 이전 진단은 착시였다.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학습하면 교정된다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z에 더해지는 상수라 hazard 안에서 순위를 바꾸지 않고 확률 수준만 옮긴다. 중심화까지 적용하니 제 역할을 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 (낮을수록 좋음) — 기저확률 베이스라인 0.1881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01000" y="201168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2194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bounded − A fixed (LS)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2542032"/>
            <a:ext cx="306324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AUC  +0.0205  [+0.000, +0.042]   경계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 −0.2535  [−0.292, −0.217]   유의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기준이다. AUC 우위는 하한이 0에 닿아 경계선이고, MSE 우위는 확실하다.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기저확률(0.1881)을 넘는 유일한 면적 조건이고 편향은 +0.009다.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001000" y="4480560"/>
            <a:ext cx="361188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46634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A·G·H·I가 0.37로 튄다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5010912"/>
            <a:ext cx="30632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 다 c_LS = 1 이고 b = 0 고정이다.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순위(AUC)는 나쁘지 않은데 확률 수준이 두 배 넘게 부풀려져 MSE가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15개 조건</a:t>
            </a:r>
            <a:endParaRPr lang="en-US" sz="2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371600"/>
                <a:gridCol w="640080"/>
                <a:gridCol w="685800"/>
                <a:gridCol w="685800"/>
                <a:gridCol w="1051560"/>
                <a:gridCol w="1143000"/>
                <a:gridCol w="1005840"/>
                <a:gridCol w="1005840"/>
                <a:gridCol w="1051560"/>
                <a:gridCol w="114300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작게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크게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‘보탠양’ = posterior AUC − 자기 prior AUC (가중평균).  기저확률 MSE: LS 0.1881(4·5번은 0.1560) / LQ 0.2494.  초록 = 아래 슬라이드의 세 후보.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자연+혼재는 여전히 유효하다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사전모형이 설명하는 것은 자연사면의 붕괴인데, GT의 양성에는 성토·옹벽·법면 같은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인공사면 붕괴가 섞여 있었다. 평가 집합을 고친 뒤에도 이 결론은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86000"/>
          <a:ext cx="5852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92531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 — 모델은 그대로, 정답만 바꿨을 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675120" y="2286000"/>
            <a:ext cx="4937760" cy="1828800"/>
          </a:xfrm>
          <a:prstGeom prst="roundRect">
            <a:avLst>
              <a:gd name="adj" fmla="val 3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9440" y="246888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모델을 한 줄도 바꾸지 않았다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816352"/>
            <a:ext cx="4389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자기 prior가 0.8778 → 0.9023으로 오른다. 원래 맞히고 있던 것을 그동안 틀렸다고 채점하고 있었다는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0.8426 → 0.8638, MSE 0.1498 → 0.1275.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75120" y="4297680"/>
            <a:ext cx="493776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448056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그런데 LQ 최대집계는 반대다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4828032"/>
            <a:ext cx="4389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최대집계로 바꾸면 prior 자체의 AUC가 0.7154 → 0.8372로 크게 오른다.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posterior는 0.7753에 그친다 — 자기 prior보다 0.062 낮다. 좋아진 prior를 모델이 깎아먹는다.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조건을 쓸 것인가 — 트레이드오프다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지표를 모두 통과하는 조건은 없다. LS 보탠양이 양수인 것이 F뿐이고 F는 나머지가 최악이기 때문이다.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지표를 빼고 보면 셋이 갈린다.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15184"/>
            <a:ext cx="146304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7899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bounded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순위가 중요할 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30428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0.8812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30428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0.1148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30428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0.7813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30428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30428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−0.214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596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0288" y="2615184"/>
            <a:ext cx="146304" cy="146304"/>
          </a:xfrm>
          <a:prstGeom prst="rect">
            <a:avLst/>
          </a:prstGeom>
          <a:solidFill>
            <a:srgbClr val="2C7A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2803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 c = 0.5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눈금이 중요할 때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05332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05332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9028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05332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−0.097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59028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05332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0.7914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9028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05332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0.1932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9028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05332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−0.103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6500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39328" y="2615184"/>
            <a:ext cx="146304" cy="14630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7707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 b만 학습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33932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LQ가 중요할 때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33932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980236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0.8466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33932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80236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0.1469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33932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+0.083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33932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980236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0.8100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33932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980236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0.2217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833932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80236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−0.192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LS AUC 1위에 눈금도 거의 완벽하지만 LQ MSE가 기저확률(0.2494)에 0.0013 차이로 미달한다.  E는 학습 파라미터 0개로 평균 MSE·최대 편향 모두 1위다.  J는 LQ AUC와 보탠양이 모두 1위다.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5623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830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LS에서 피해 데이터가 보태는 것이 없다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1122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자기 prior보다 낮다. 왜 그런지가 다음 연구의 중심이어야 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770632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974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c_LS도 1보다 낮춰야 한다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30266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E(c=0.5)의 편향 −0.097과 A(c=1)의 +0.436 사이에 최적값이 있다. c_LS × c_LQ를 0.5~1 구간에서 훑는 실험이 다음 순서다.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685032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118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③과 ④를 결합하지 않았다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410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10개 조건은 전부 기존(all) GT로 돌았다.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599432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262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554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다만 λ = p̄·k 유도가 평균집계를 전제하므로 이론 정리가 먼저다.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513832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406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평가는 229행뿐이다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698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418행으로 늘었지만 LQ는 GT 시트가 덮는 범위가 그대로다.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008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tools/build_dataset.py --area-from-usgs  →  python run_followup3.py --data-dir 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2026-09-16T15:30:21Z</dcterms:created>
  <dcterms:modified xsi:type="dcterms:W3CDTF">2026-09-16T15:30:21Z</dcterms:modified>
</cp:coreProperties>
</file>