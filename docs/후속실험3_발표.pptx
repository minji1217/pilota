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7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고치기 전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LS 평가 행</c:v>
                  </c:pt>
                  <c:pt idx="1">
                    <c:v>양성률 (%)</c:v>
                  </c:pt>
                  <c:pt idx="2">
                    <c:v>AUC 정의 이벤트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125</c:v>
                </c:pt>
                <c:pt idx="1">
                  <c:v>84</c:v>
                </c:pt>
                <c:pt idx="2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고친 뒤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LS 평가 행</c:v>
                  </c:pt>
                  <c:pt idx="1">
                    <c:v>양성률 (%)</c:v>
                  </c:pt>
                  <c:pt idx="2">
                    <c:v>AUC 정의 이벤트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418</c:v>
                </c:pt>
                <c:pt idx="1">
                  <c:v>25.1</c:v>
                </c:pt>
                <c:pt idx="2">
                  <c:v>9</c:v>
                </c:pt>
              </c:numCache>
            </c:numRef>
          </c:val>
        </c:ser>
        <c:dLbls>
          <c:numFmt formatCode="0.#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0"/>
          <c:min val="0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0.8778</c:v>
                </c:pt>
                <c:pt idx="1">
                  <c:v>0.8778</c:v>
                </c:pt>
                <c:pt idx="2">
                  <c:v>0.8778</c:v>
                </c:pt>
                <c:pt idx="3">
                  <c:v>0.9023</c:v>
                </c:pt>
                <c:pt idx="4">
                  <c:v>0.9023</c:v>
                </c:pt>
                <c:pt idx="5">
                  <c:v>0.885</c:v>
                </c:pt>
                <c:pt idx="6">
                  <c:v>0.885</c:v>
                </c:pt>
                <c:pt idx="7">
                  <c:v>0.8969</c:v>
                </c:pt>
                <c:pt idx="8">
                  <c:v>0.8776</c:v>
                </c:pt>
                <c:pt idx="9">
                  <c:v>0.8967</c:v>
                </c:pt>
                <c:pt idx="10">
                  <c:v>0.8373</c:v>
                </c:pt>
                <c:pt idx="11">
                  <c:v>0.885</c:v>
                </c:pt>
                <c:pt idx="12">
                  <c:v>0.885</c:v>
                </c:pt>
                <c:pt idx="13">
                  <c:v>0.885</c:v>
                </c:pt>
                <c:pt idx="14">
                  <c:v>0.885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0.7925</c:v>
                </c:pt>
                <c:pt idx="1">
                  <c:v>0.8426</c:v>
                </c:pt>
                <c:pt idx="2">
                  <c:v>0.8405</c:v>
                </c:pt>
                <c:pt idx="3">
                  <c:v>0.8638</c:v>
                </c:pt>
                <c:pt idx="4">
                  <c:v>0.8646</c:v>
                </c:pt>
                <c:pt idx="5">
                  <c:v>0.8607</c:v>
                </c:pt>
                <c:pt idx="6">
                  <c:v>0.8496</c:v>
                </c:pt>
                <c:pt idx="7">
                  <c:v>0.8812</c:v>
                </c:pt>
                <c:pt idx="8">
                  <c:v>0.849</c:v>
                </c:pt>
                <c:pt idx="9">
                  <c:v>0.8435</c:v>
                </c:pt>
                <c:pt idx="10">
                  <c:v>0.8379</c:v>
                </c:pt>
                <c:pt idx="11">
                  <c:v>0.8646</c:v>
                </c:pt>
                <c:pt idx="12">
                  <c:v>0.862</c:v>
                </c:pt>
                <c:pt idx="13">
                  <c:v>0.865</c:v>
                </c:pt>
                <c:pt idx="14">
                  <c:v>0.8466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0.7154</c:v>
                </c:pt>
                <c:pt idx="1">
                  <c:v>0.7154</c:v>
                </c:pt>
                <c:pt idx="2">
                  <c:v>0.8372</c:v>
                </c:pt>
                <c:pt idx="3">
                  <c:v>0.7154</c:v>
                </c:pt>
                <c:pt idx="4">
                  <c:v>0.8372</c:v>
                </c:pt>
                <c:pt idx="5">
                  <c:v>0.7698</c:v>
                </c:pt>
                <c:pt idx="6">
                  <c:v>0.7698</c:v>
                </c:pt>
                <c:pt idx="7">
                  <c:v>0.7709</c:v>
                </c:pt>
                <c:pt idx="8">
                  <c:v>0.7784</c:v>
                </c:pt>
                <c:pt idx="9">
                  <c:v>0.757</c:v>
                </c:pt>
                <c:pt idx="10">
                  <c:v>0.7687</c:v>
                </c:pt>
                <c:pt idx="11">
                  <c:v>0.757</c:v>
                </c:pt>
                <c:pt idx="12">
                  <c:v>0.7725</c:v>
                </c:pt>
                <c:pt idx="13">
                  <c:v>0.7547</c:v>
                </c:pt>
                <c:pt idx="14">
                  <c:v>0.7698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0.7504</c:v>
                </c:pt>
                <c:pt idx="1">
                  <c:v>0.7663</c:v>
                </c:pt>
                <c:pt idx="2">
                  <c:v>0.7753</c:v>
                </c:pt>
                <c:pt idx="3">
                  <c:v>0.7663</c:v>
                </c:pt>
                <c:pt idx="4">
                  <c:v>0.7753</c:v>
                </c:pt>
                <c:pt idx="5">
                  <c:v>0.7812</c:v>
                </c:pt>
                <c:pt idx="6">
                  <c:v>0.7871</c:v>
                </c:pt>
                <c:pt idx="7">
                  <c:v>0.7813</c:v>
                </c:pt>
                <c:pt idx="8">
                  <c:v>0.7814</c:v>
                </c:pt>
                <c:pt idx="9">
                  <c:v>0.7914</c:v>
                </c:pt>
                <c:pt idx="10">
                  <c:v>0.7681</c:v>
                </c:pt>
                <c:pt idx="11">
                  <c:v>0.7905</c:v>
                </c:pt>
                <c:pt idx="12">
                  <c:v>0.7955</c:v>
                </c:pt>
                <c:pt idx="13">
                  <c:v>0.7732</c:v>
                </c:pt>
                <c:pt idx="14">
                  <c:v>0.81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보탠 양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+0.000;-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-0.0853</c:v>
                </c:pt>
                <c:pt idx="1">
                  <c:v>-0.0352</c:v>
                </c:pt>
                <c:pt idx="2">
                  <c:v>-0.0372</c:v>
                </c:pt>
                <c:pt idx="3">
                  <c:v>-0.0385</c:v>
                </c:pt>
                <c:pt idx="4">
                  <c:v>-0.0377</c:v>
                </c:pt>
                <c:pt idx="5">
                  <c:v>-0.0243</c:v>
                </c:pt>
                <c:pt idx="6">
                  <c:v>-0.0354</c:v>
                </c:pt>
                <c:pt idx="7">
                  <c:v>-0.0157</c:v>
                </c:pt>
                <c:pt idx="8">
                  <c:v>-0.0286</c:v>
                </c:pt>
                <c:pt idx="9">
                  <c:v>-0.0532</c:v>
                </c:pt>
                <c:pt idx="10">
                  <c:v>0.0005</c:v>
                </c:pt>
                <c:pt idx="11">
                  <c:v>-0.0204</c:v>
                </c:pt>
                <c:pt idx="12">
                  <c:v>-0.023</c:v>
                </c:pt>
                <c:pt idx="13">
                  <c:v>-0.02</c:v>
                </c:pt>
                <c:pt idx="14">
                  <c:v>-0.0384</c:v>
                </c:pt>
              </c:numCache>
            </c:numRef>
          </c:val>
        </c:ser>
        <c:dLbls>
          <c:numFmt formatCode="+0.000;-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15"/>
          <c:min val="-0.1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산사태 LS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+0.000;-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 = 0.5</c:v>
                  </c:pt>
                  <c:pt idx="1">
                    <c:v>c = 1.0</c:v>
                  </c:pt>
                  <c:pt idx="2">
                    <c:v>c = 2.0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-0.097</c:v>
                </c:pt>
                <c:pt idx="1">
                  <c:v>0.436</c:v>
                </c:pt>
                <c:pt idx="2">
                  <c:v>0.715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액상화 LQ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+0.000;-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 = 0.5</c:v>
                  </c:pt>
                  <c:pt idx="1">
                    <c:v>c = 1.0</c:v>
                  </c:pt>
                  <c:pt idx="2">
                    <c:v>c = 2.0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-0.103</c:v>
                </c:pt>
                <c:pt idx="1">
                  <c:v>0.256</c:v>
                </c:pt>
                <c:pt idx="2">
                  <c:v>0.501</c:v>
                </c:pt>
              </c:numCache>
            </c:numRef>
          </c:val>
        </c:ser>
        <c:dLbls>
          <c:numFmt formatCode="+0.000;-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5"/>
          <c:min val="-0.25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MSE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0.1525</c:v>
                </c:pt>
                <c:pt idx="1">
                  <c:v>0.1498</c:v>
                </c:pt>
                <c:pt idx="2">
                  <c:v>0.147</c:v>
                </c:pt>
                <c:pt idx="3">
                  <c:v>0.1275</c:v>
                </c:pt>
                <c:pt idx="4">
                  <c:v>0.1242</c:v>
                </c:pt>
                <c:pt idx="5">
                  <c:v>0.3683</c:v>
                </c:pt>
                <c:pt idx="6">
                  <c:v>0.1409</c:v>
                </c:pt>
                <c:pt idx="7">
                  <c:v>0.1148</c:v>
                </c:pt>
                <c:pt idx="8">
                  <c:v>0.1555</c:v>
                </c:pt>
                <c:pt idx="9">
                  <c:v>0.1429</c:v>
                </c:pt>
                <c:pt idx="10">
                  <c:v>0.7068</c:v>
                </c:pt>
                <c:pt idx="11">
                  <c:v>0.3685</c:v>
                </c:pt>
                <c:pt idx="12">
                  <c:v>0.3685</c:v>
                </c:pt>
                <c:pt idx="13">
                  <c:v>0.3684</c:v>
                </c:pt>
                <c:pt idx="14">
                  <c:v>0.1469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8"/>
          <c:min val="0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기존 GT (2번)</c:v>
                  </c:pt>
                  <c:pt idx="1">
                    <c:v>자연+혼재 (4번)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0.8778</c:v>
                </c:pt>
                <c:pt idx="1">
                  <c:v>0.9023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C9772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기존 GT (2번)</c:v>
                  </c:pt>
                  <c:pt idx="1">
                    <c:v>자연+혼재 (4번)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0.8426</c:v>
                </c:pt>
                <c:pt idx="1">
                  <c:v>0.8638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3"/>
          <c:min val="0.8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산사태 LS</c:v>
                </c:pt>
              </c:strCache>
            </c:strRef>
          </c:tx>
          <c:spPr>
            <a:solidFill>
              <a:srgbClr val="B85042"/>
            </a:solidFill>
            <a:ln w="3810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0.3</c:v>
                  </c:pt>
                  <c:pt idx="1">
                    <c:v>0.4</c:v>
                  </c:pt>
                  <c:pt idx="2">
                    <c:v>0.5</c:v>
                  </c:pt>
                  <c:pt idx="3">
                    <c:v>0.6</c:v>
                  </c:pt>
                  <c:pt idx="4">
                    <c:v>0.7</c:v>
                  </c:pt>
                  <c:pt idx="5">
                    <c:v>0.8</c:v>
                  </c:pt>
                  <c:pt idx="6">
                    <c:v>0.9</c:v>
                  </c:pt>
                  <c:pt idx="7">
                    <c:v>1.0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-0.2002</c:v>
                </c:pt>
                <c:pt idx="1">
                  <c:v>-0.1562</c:v>
                </c:pt>
                <c:pt idx="2">
                  <c:v>-0.0964</c:v>
                </c:pt>
                <c:pt idx="3">
                  <c:v>-0.0216</c:v>
                </c:pt>
                <c:pt idx="4">
                  <c:v>0.0773</c:v>
                </c:pt>
                <c:pt idx="5">
                  <c:v>0.1982</c:v>
                </c:pt>
                <c:pt idx="6">
                  <c:v>0.3248</c:v>
                </c:pt>
                <c:pt idx="7">
                  <c:v>0.4362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액상화 LQ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0.3</c:v>
                  </c:pt>
                  <c:pt idx="1">
                    <c:v>0.4</c:v>
                  </c:pt>
                  <c:pt idx="2">
                    <c:v>0.5</c:v>
                  </c:pt>
                  <c:pt idx="3">
                    <c:v>0.6</c:v>
                  </c:pt>
                  <c:pt idx="4">
                    <c:v>0.7</c:v>
                  </c:pt>
                  <c:pt idx="5">
                    <c:v>0.8</c:v>
                  </c:pt>
                  <c:pt idx="6">
                    <c:v>0.9</c:v>
                  </c:pt>
                  <c:pt idx="7">
                    <c:v>1.0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-0.2755</c:v>
                </c:pt>
                <c:pt idx="1">
                  <c:v>-0.194</c:v>
                </c:pt>
                <c:pt idx="2">
                  <c:v>-0.1042</c:v>
                </c:pt>
                <c:pt idx="3">
                  <c:v>-0.0147</c:v>
                </c:pt>
                <c:pt idx="4">
                  <c:v>0.0673</c:v>
                </c:pt>
                <c:pt idx="5">
                  <c:v>0.1396</c:v>
                </c:pt>
                <c:pt idx="6">
                  <c:v>0.2023</c:v>
                </c:pt>
                <c:pt idx="7">
                  <c:v>0.2566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-0.35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산사태 LS</c:v>
                </c:pt>
              </c:strCache>
            </c:strRef>
          </c:tx>
          <c:spPr>
            <a:solidFill>
              <a:srgbClr val="B85042"/>
            </a:solidFill>
            <a:ln w="3810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0.3</c:v>
                  </c:pt>
                  <c:pt idx="1">
                    <c:v>0.4</c:v>
                  </c:pt>
                  <c:pt idx="2">
                    <c:v>0.5</c:v>
                  </c:pt>
                  <c:pt idx="3">
                    <c:v>0.6</c:v>
                  </c:pt>
                  <c:pt idx="4">
                    <c:v>0.7</c:v>
                  </c:pt>
                  <c:pt idx="5">
                    <c:v>0.8</c:v>
                  </c:pt>
                  <c:pt idx="6">
                    <c:v>0.9</c:v>
                  </c:pt>
                  <c:pt idx="7">
                    <c:v>1.0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0.1912</c:v>
                </c:pt>
                <c:pt idx="1">
                  <c:v>0.1656</c:v>
                </c:pt>
                <c:pt idx="2">
                  <c:v>0.1448</c:v>
                </c:pt>
                <c:pt idx="3">
                  <c:v>0.1336</c:v>
                </c:pt>
                <c:pt idx="4">
                  <c:v>0.1457</c:v>
                </c:pt>
                <c:pt idx="5">
                  <c:v>0.1931</c:v>
                </c:pt>
                <c:pt idx="6">
                  <c:v>0.2735</c:v>
                </c:pt>
                <c:pt idx="7">
                  <c:v>0.3684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액상화 LQ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0.3</c:v>
                  </c:pt>
                  <c:pt idx="1">
                    <c:v>0.4</c:v>
                  </c:pt>
                  <c:pt idx="2">
                    <c:v>0.5</c:v>
                  </c:pt>
                  <c:pt idx="3">
                    <c:v>0.6</c:v>
                  </c:pt>
                  <c:pt idx="4">
                    <c:v>0.7</c:v>
                  </c:pt>
                  <c:pt idx="5">
                    <c:v>0.8</c:v>
                  </c:pt>
                  <c:pt idx="6">
                    <c:v>0.9</c:v>
                  </c:pt>
                  <c:pt idx="7">
                    <c:v>1.0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0.2767</c:v>
                </c:pt>
                <c:pt idx="1">
                  <c:v>0.2282</c:v>
                </c:pt>
                <c:pt idx="2">
                  <c:v>0.1927</c:v>
                </c:pt>
                <c:pt idx="3">
                  <c:v>0.1776</c:v>
                </c:pt>
                <c:pt idx="4">
                  <c:v>0.1806</c:v>
                </c:pt>
                <c:pt idx="5">
                  <c:v>0.1962</c:v>
                </c:pt>
                <c:pt idx="6">
                  <c:v>0.2203</c:v>
                </c:pt>
                <c:pt idx="7">
                  <c:v>0.2499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.1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평가 집합이 편향돼 있었고, 그걸 고치니 이전 결론 둘이 뒤집혔다는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(2)가 이번 개정의 핵심. 나머지는 그것을 제대로 보기 위한 준비.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부트스트랩: A −0.017 [−0.039,+0.007], C +0.011 [−0.011,+0.035], E −0.039 [−0.064,−0.012].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554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 · 후속실험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1168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집합을 고치니</a:t>
            </a:r>
            <a:endParaRPr lang="en-US" sz="4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결론이 뒤집혔다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02336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정답의 69%가 평가에서 빠져 있었다. 되돌리자 양성률이 84%에서 25%로 내려가면서,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“잘 맞는다”던 조건이 사실은 확률을 0.44만큼 과대추정하고 있었던 것으로 드러났다.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50292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조건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578608" y="50292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578608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 행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90288" y="50292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32,865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590288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쌍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50292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말하기 전에 — 세 가지를 고쳐야 했다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92808"/>
            <a:ext cx="365760" cy="365760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938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181965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기준선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081528" y="18196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prior → 자기 prior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14884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조건의 prior는 z = a·log p̄ + b + c·log k 라 원값과 순위가 다르다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2807208"/>
            <a:ext cx="365760" cy="36576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852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273405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GT의 NA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81528" y="27340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 → 0으로 포함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306324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LQ는 NA를 0으로 세는데 LS만 뺐다. 그런데 GT 439행 중 304행(69%)이 NA였다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721608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7673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15568" y="364845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중심화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081528" y="36484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→ 규칙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15568" y="397764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-ctr 이름이 붙은 조건만 중심화해서 B·C·D·J는 b를 학습하는데도 빠져 있었다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709160"/>
            <a:ext cx="11064240" cy="1600200"/>
          </a:xfrm>
          <a:prstGeom prst="roundRect">
            <a:avLst>
              <a:gd name="adj" fmla="val 3429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" y="489204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이 중 (2)가 이전 결론 두 개를 뒤집었다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841248" y="5239512"/>
            <a:ext cx="1051560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“A fixed(유도식)가 LS 눈금이 완벽하다”(편향 +0.006)  →  정반대. 편향 +0.436, MSE 0.3683.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“b를 학습하면 LS 눈금이 무너진다”(편향 −0.27)  →  반대. C bounded 편향 +0.009, MSE 0.1148.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양성률 84%짜리 집합에서 잰 값이었다. 음성이 될 행이 대부분 빠져 있어서 확률을 크게 부풀리는 모형이 “잘 맞는 모형”으로 보였다.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정답의 69%가 빠져 있었다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LS와 LQ가 서로 다른 NA 규칙으로 돌고 있었다. LQ의 jshis_flag는 NA를 0으로 세는데 LS는 평가에서 뺐다.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03120"/>
          <a:ext cx="64008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0167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지표를 한 축에 놓았다 — 행 수·퍼센트·개수라 크기만 비교한다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223760" y="2103120"/>
            <a:ext cx="4389120" cy="1920240"/>
          </a:xfrm>
          <a:prstGeom prst="roundRect">
            <a:avLst>
              <a:gd name="adj" fmla="val 2857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0" y="22860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GT 439행 중 304행이 NA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498080" y="2633472"/>
            <a:ext cx="38404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ls_flag 이벤트 6개: 1=64, 0=15, NA=178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ls_area_ha 이벤트 3개: &gt;0=49, =0=7, NA=126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기록이 없다는 것은 그 시정촌에서 산사태가 확인되지 않았다는 뜻이므로 0으로 센다.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223760" y="4206240"/>
            <a:ext cx="4389120" cy="1920240"/>
          </a:xfrm>
          <a:prstGeom prst="roundRect">
            <a:avLst>
              <a:gd name="adj" fmla="val 285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0" y="43891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달라지나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498080" y="4736592"/>
            <a:ext cx="38404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MSE 기저확률 0.1344 → 0.1881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쌍 2,100 → 32,865 (16배)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불확실성이 크게 줄어 작은 차이도 판별할 수 있게 됐다.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돌렸나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갈래 모두 같은 데이터·같은 seed. 조건마다 브랜치가 다르고, 면적 항은 prior.py / loader.py 자체가 다르다.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GT는 학습에 전혀 쓰지 않는다 — 평가 전용이다.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097280"/>
                <a:gridCol w="11887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집합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 기저확률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(기존 GT)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0.1881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(자연+혼재)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215384"/>
            <a:ext cx="365760" cy="36576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66928" y="42611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115568" y="416052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교수님 피드백 — b 범위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115568" y="445312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3개. b 상한을 4 / 10으로 넓혀 안쪽에서 멈추는지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873752"/>
            <a:ext cx="365760" cy="365760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" y="49194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115568" y="481888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GT 재평가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115568" y="5111496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2개. 학습은 그대로 두고 LS 정답만 좁힌다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553212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66928" y="5577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115568" y="547725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115568" y="576986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10개. z = a·log p̄ + b + c·log k 의 a·b·c를 어떻게 다룰지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6190488"/>
            <a:ext cx="365760" cy="365760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66928" y="62362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115568" y="613562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계수 c 훑기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115568" y="642823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100개. c를 0.3~1.0에서 격자로 돌려 최적값을 찾는다 (④ 결과를 보고 우리가 추가)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035040" y="2377440"/>
            <a:ext cx="5577840" cy="1609344"/>
          </a:xfrm>
          <a:prstGeom prst="roundRect">
            <a:avLst>
              <a:gd name="adj" fmla="val 3409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09360" y="25603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lam_gamma = 10 · 3000 epoch · seed 0</a:t>
            </a:r>
            <a:endParaRPr lang="en-US" sz="1450" dirty="0"/>
          </a:p>
        </p:txBody>
      </p:sp>
      <p:sp>
        <p:nvSpPr>
          <p:cNvPr id="24" name="Text 21"/>
          <p:cNvSpPr txBox="1"/>
          <p:nvPr/>
        </p:nvSpPr>
        <p:spPr>
          <a:xfrm>
            <a:off x="6309360" y="2907792"/>
            <a:ext cx="5029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10개 조건 모두 lam_gamma=10이 최선이었다.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회귀·likelihood 파라미터 44개는 모든 조건에서 학습한다. 표의 ‘학습’은 prior의 a·b·c 중 학습 개수다.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설계 ① — 갈래 ②·③ (교수님 지시)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항이 없는 조건이다. prior 식은  z = a·logit(p̄) + b  하나뿐이고, 여기서 a는 USGS 값을 얼마나 믿을지(기울기), b는 확률 수준을 위아래로 옮기는 값(높이)이다.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139696"/>
          <a:ext cx="11064240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1600200"/>
                <a:gridCol w="914400"/>
                <a:gridCol w="1051560"/>
                <a:gridCol w="1234440"/>
                <a:gridCol w="1005840"/>
                <a:gridCol w="469087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집계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범위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학습된 b_LS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NLL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보려는 조건인가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2]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6314.7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작년 실험. 비교 출발점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6288.3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작년 실험. LQ만 집계 방식이 다르다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6305.5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상한을 4로 넓혀 본다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10]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6301.4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상한을 10까지 넓혀 본다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10]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6282.5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2번과 같되 LQ를 최대집계로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6301.4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2번 모델 그대로. 정답만 자연+혼재로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6282.5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모델 그대로. 정답만 자연+혼재로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773168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9560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b를 넓혀도 계속 상한에 붙는다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303520"/>
            <a:ext cx="4846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최적값을 찾은 게 아니라 잘린 것이라 상한을 4 → 10으로 넓혀 봤는데 3.954 / 9.523 으로 또 끝에 붙는다. 3번과 6번의 차이는 LQ를 시정촌 안 격자들의 평균으로 볼지 최대로 볼지 하나뿐이다.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4773168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49560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은 모델을 다시 학습하지 않는다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303520"/>
            <a:ext cx="4846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학습에 정답을 전혀 쓰지 않으므로 같은 seed면 모델이 똑같고 채점 기준만 바뀐다. 자연·혼재 → 양성 / 인공 → 음성(채점 포함) / 불명 → 채점 제외.  418행 → 398행.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설계 ② — 갈래 ④ 면적 항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0934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a · log p̄ + b + c · (log k − m)      k = 시정촌 면적 ÷ 격자 한 칸 넓이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385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값 p̄는 '발생 확률'이 아니라 '격자 한 칸 중 덮이는 면적 비율'이다. 그래서 넓은 시정촌일수록 한 곳이라도 무너질 확률이 높다. 그 면적을 식에 넣은 것이 c·log k 항이고, 유도대로면 a=1, b=0, c=1 이다. 면적 항이 있는 조건만 logit이 아니라 log를 쓰는 이유도 면적을 곱셈(λ = p̄·k)으로 넣으려면 로그가 되어야 하기 때문이다.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15184"/>
          <a:ext cx="11064240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384048"/>
                <a:gridCol w="1024128"/>
                <a:gridCol w="713232"/>
                <a:gridCol w="786384"/>
                <a:gridCol w="713232"/>
                <a:gridCol w="713232"/>
                <a:gridCol w="713232"/>
                <a:gridCol w="713232"/>
                <a:gridCol w="548640"/>
                <a:gridCol w="4187952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mode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a_LS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b_LS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c_LS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a_LQ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b_LQ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보려는 조건인가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아무것도 학습 안 함. 유도식 그대로 — 기준점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힘을 USGS의 힘과 같게 묶고 크기만 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힘은 1로 두고 기울기·높이만 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여섯 값 전부 데이터에 맡긴다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a1-c05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영향을 절반으로 줄여 고정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a1-c2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영향을 두 배로 키워 고정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 면적 영향만 절반 (LS는 A와 동일)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lq-c075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쪽만 0.75 (LS는 A와 동일)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lq-c-free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 면적 영향만 데이터가 고른다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b-only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순위는 유도식 그대로, 확률 높이만 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54681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= USGS 값을 얼마나 믿을지(기울기)     b = 확률 수준을 위아래로 옮기는 값(높이)     c = 시정촌 면적을 얼마나 반영할지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972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 회색: 교수님이 지시하신 A~F     주황: 실험 도중 우리가 만든 G·H·I     초록: 민지님이 요청한 J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10819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b를 학습하는 B·C·D·J는 b 범위가 [−20, 20]이고 log k를 평균 중심화한다(m = LS 8.042 / LQ 6.656). 나머지는 b=0 고정이라 중심화하지 않는다 — 빼면 유도식이 깨진다.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결과 한 장 — 산사태 LS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회색이 자기 prior 단독, 색이 posterior다. 색 막대가 회색보다 짧으면 피해 데이터가 오히려 깎았다는 뜻이다.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가로축은 0.5(무작위)에서 시작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중 14개가 짧다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posterior가 자기 prior를 넘은 것은 F 하나뿐이고 그마저 +0.0005다.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4·5번은 자연+혼재 GT라 prior 기준선이 0.878 → 0.902로 함께 올라간다.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쌍이 32,865개로 16배 늘었는데도 방향이 바뀌지 않았다.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결과 한 장 — 액상화 LQ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방식으로 LQ를 본다. 이쪽은 방향이 반대다.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가로축은 0.5(무작위)에서 시작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 posterior가 더 길다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LQ에서는 13개 조건이 자기 prior를 넘는다(+0.003 ~ +0.040). J가 +0.040으로 1위다.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예외는 3·5번(LQ 최대집계)과 F다. 3·5번은 prior가 0.837로 가장 좋은데 posterior가 0.775에 그쳐 −0.062로 가장 크게 깎는다.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좋아진 prior를 모델이 오히려 망가뜨린다.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 데이터가 LS에 보탠 양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 AUC − 자기 prior AUC (가중평균). 0보다 커야 피해 데이터가 보탠 것이 있다.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2237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001000" y="201168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75320" y="219456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중 14개가 음수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275320" y="2542032"/>
            <a:ext cx="30632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유일한 양수 F(+0.0005)는 LS MSE 0.7068, 편향 +0.715로 다른 모든 지표에서 최악이다.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쌍이 32,865개로 16배 늘었는데도 방향이 바뀌지 않는다.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01000" y="4297680"/>
            <a:ext cx="3611880" cy="1920240"/>
          </a:xfrm>
          <a:prstGeom prst="roundRect">
            <a:avLst>
              <a:gd name="adj" fmla="val 285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75320" y="448056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LQ는 반대다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4828032"/>
            <a:ext cx="30632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LQ에서는 대부분 보탠다(+0.003 ~ +0.040).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모델에서 피해 데이터가 LS에 보태는 것이 없다는 것이 이번 실험의 가장 큰 발견이다.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= 1 은 확률을 부풀린다 — 두 hazard 모두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값 p̄는 칸 면적 중 덮일 비율이다. 칸이 독립이면 λ = p̄ × k 이고 순위가 같은 log λ 를 쓴다.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c = 1이 유도식 그대로다 — 그런데 그 독립 가정이 맞지 않는다.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286000"/>
          <a:ext cx="64008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0167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= 평균 예측확률 − 실제 양성률 (LS 0.251 / LQ 0.476)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223760" y="2286000"/>
            <a:ext cx="4389120" cy="1783080"/>
          </a:xfrm>
          <a:prstGeom prst="roundRect">
            <a:avLst>
              <a:gd name="adj" fmla="val 3077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0" y="246888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판이 왜 반대로 보였나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498080" y="2816352"/>
            <a:ext cx="38404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집합이 양성 84%였다. 그러면 “거의 다 양성이라 찍는 모형”이 잘 맞는 것처럼 보인다.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양성률이 0.251로 내려가자 A fixed의 평균 예측 0.687이 정체를 드러냈다.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223760" y="4251960"/>
            <a:ext cx="4389120" cy="1691640"/>
          </a:xfrm>
          <a:prstGeom prst="roundRect">
            <a:avLst>
              <a:gd name="adj" fmla="val 3243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0" y="443484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LS의 최적 c도 0.5~1 사이다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498080" y="4782312"/>
            <a:ext cx="3840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LQ와 같은 방향이다. 칸이 공간적으로 상관되어 1 − ∏(1−pᵢ)가 과대추정한다는 뜻이다.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“LS는 유도식 c=1이 맞다”는 이전 진단은 착시였다.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b를 학습하면 교정된다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b는 z에 더해지는 상수라 hazard 안에서 순위를 바꾸지 않고 확률 수준만 옮긴다. 중심화까지 적용하니 제 역할을 한다.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2237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MSE (낮을수록 좋음) — 기저확률 베이스라인 0.1881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01000" y="201168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75320" y="219456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bounded − A fixed (LS)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75320" y="2542032"/>
            <a:ext cx="3063240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AUC  +0.0205  [+0.000, +0.042]   경계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MSE  −0.2535  [−0.292, −0.217]   유의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기준이다. AUC 우위는 하한이 0에 닿아 경계선이고, MSE 우위는 확실하다.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C는 기저확률(0.1881)을 넘는 유일한 면적 조건이고 편향은 +0.009다.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001000" y="4480560"/>
            <a:ext cx="3611880" cy="1828800"/>
          </a:xfrm>
          <a:prstGeom prst="roundRect">
            <a:avLst>
              <a:gd name="adj" fmla="val 3000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75320" y="466344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A·G·H·I가 0.37로 튄다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5010912"/>
            <a:ext cx="30632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 다 c_LS = 1 이고 b = 0 고정이다.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순위(AUC)는 나쁘지 않은데 확률 수준이 두 배 넘게 부풀려져 MSE가 무너진다.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결과 15개 조건</a:t>
            </a:r>
            <a:endParaRPr lang="en-US" sz="2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371600"/>
                <a:gridCol w="640080"/>
                <a:gridCol w="685800"/>
                <a:gridCol w="685800"/>
                <a:gridCol w="1051560"/>
                <a:gridCol w="1143000"/>
                <a:gridCol w="1005840"/>
                <a:gridCol w="1005840"/>
                <a:gridCol w="1051560"/>
                <a:gridCol w="114300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c_LS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AUC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보탠양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MSE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편향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AUC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보탠양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MSE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작게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크게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c=0.75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 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b만 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‘보탠양’ = posterior AUC − 자기 prior AUC (가중평균).  기저확률 MSE: LS 0.1881(4·5번은 0.1560) / LQ 0.2494.  초록 = 아래 슬라이드의 세 후보.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자연+혼재는 여전히 유효하다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산사태 사전모형이 설명하는 것은 자연사면의 붕괴인데, GT의 양성에는 성토·옹벽·법면 같은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인공사면 붕괴가 섞여 있었다. 평가 집합을 고친 뒤에도 이 결론은 그대로다.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286000"/>
          <a:ext cx="5852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592531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AUC — 모델은 그대로, 정답만 바꿨을 때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675120" y="2286000"/>
            <a:ext cx="4937760" cy="1828800"/>
          </a:xfrm>
          <a:prstGeom prst="roundRect">
            <a:avLst>
              <a:gd name="adj" fmla="val 3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9440" y="246888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모델을 한 줄도 바꾸지 않았다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6949440" y="2816352"/>
            <a:ext cx="43891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자기 prior가 0.8778 → 0.9023으로 오른다. 원래 맞히고 있던 것을 그동안 틀렸다고 채점하고 있었다는 뜻이다.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 0.8426 → 0.8638, MSE 0.1498 → 0.1275.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675120" y="4297680"/>
            <a:ext cx="4937760" cy="1920240"/>
          </a:xfrm>
          <a:prstGeom prst="roundRect">
            <a:avLst>
              <a:gd name="adj" fmla="val 285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49440" y="448056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그런데 LQ 최대집계는 반대다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6949440" y="4828032"/>
            <a:ext cx="43891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prior를 최대집계로 바꾸면 prior 자체의 AUC가 0.7154 → 0.8372로 크게 오른다.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posterior는 0.7753에 그친다 — 자기 prior보다 0.062 낮다. 좋아진 prior를 모델이 깎아먹는다.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조건을 쓸 것인가 — 트레이드오프다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지표를 모두 통과하는 조건은 없다. LS 보탠양이 양수인 것이 F뿐이고 F는 나머지가 최악이기 때문이다.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지표를 빼고 보면 셋이 갈린다.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377440"/>
            <a:ext cx="3520440" cy="3657600"/>
          </a:xfrm>
          <a:prstGeom prst="roundRect">
            <a:avLst>
              <a:gd name="adj" fmla="val 155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615184"/>
            <a:ext cx="146304" cy="14630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78992" y="25420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bounded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88950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순위가 중요할 때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2918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AUC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304288" y="3291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0.8812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70332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MSE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304288" y="37033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0.1148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411480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편향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304288" y="411480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+0.009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452628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AUC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304288" y="45262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0.7813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4937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MSE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304288" y="49377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0.2507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" y="53492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편향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304288" y="53492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−0.214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5968" y="2377440"/>
            <a:ext cx="3520440" cy="3657600"/>
          </a:xfrm>
          <a:prstGeom prst="roundRect">
            <a:avLst>
              <a:gd name="adj" fmla="val 155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90288" y="2615184"/>
            <a:ext cx="146304" cy="146304"/>
          </a:xfrm>
          <a:prstGeom prst="rect">
            <a:avLst/>
          </a:prstGeom>
          <a:solidFill>
            <a:srgbClr val="2C7A5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28032" y="25420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 c = 0.5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590288" y="288950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 눈금이 중요할 때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590288" y="32918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AUC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053328" y="3291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0.8435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90288" y="370332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MSE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053328" y="37033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0.1429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590288" y="411480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편향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053328" y="411480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−0.097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590288" y="452628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AUC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6053328" y="45262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0.7914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590288" y="4937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MSE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053328" y="49377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0.1932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590288" y="53492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편향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6053328" y="53492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−0.103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65008" y="2377440"/>
            <a:ext cx="3520440" cy="3657600"/>
          </a:xfrm>
          <a:prstGeom prst="roundRect">
            <a:avLst>
              <a:gd name="adj" fmla="val 155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339328" y="2615184"/>
            <a:ext cx="146304" cy="14630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577072" y="25420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 b만 학습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8339328" y="288950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LQ가 중요할 때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339328" y="32918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AUC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9802368" y="3291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0.8466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8339328" y="370332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MSE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9802368" y="37033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0.1469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8339328" y="411480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편향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9802368" y="411480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+0.083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8339328" y="452628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AUC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9802368" y="45262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0.8100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8339328" y="4937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MSE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9802368" y="49377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0.2217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8339328" y="53492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편향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9802368" y="53492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−0.192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C는 LS AUC 1위에 눈금도 거의 완벽하지만 LQ MSE가 기저확률(0.2494)에 0.0013 차이로 미달한다.  E는 학습 파라미터 0개로 평균 MSE·최대 편향 모두 1위다.  J는 LQ AUC와 보탠양이 모두 1위다.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면적 계수 c 를 훑었다 — 유도값 1은 틀렸다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④에서 c = 1이 두 hazard 모두 확률을 크게 부풀리는 것이 드러났다(LS +0.436 / LQ +0.256). c를 0.5로 내리면 부호가 뒤집히니 그 사이 어딘가가 정답이다. 그래서 c를 0.3부터 1.0까지 직접 돌려 봤다 — a=1, b=0 고정이라 prior에서 학습하는 값이 하나도 없는, 순수하게 c만 다른 100번의 학습이다.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304288"/>
          <a:ext cx="53949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5084064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= 평균 예측확률 − 실제 양성률.  가로축 c.  0이 정답이다.</a:t>
            </a:r>
            <a:endParaRPr lang="en-US" sz="105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236208" y="2304288"/>
          <a:ext cx="53949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36208" y="5084064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MSE (낮을수록 좋음).  기저확률은 LS 0.1881 / LQ 0.2494 — 이보다 낮아야 의미가 있다.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566928" y="539496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557784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hazard의 c는 서로 간섭하지 않는다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5925312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 c를 0.3~1.0으로 바꿔도 다른 쪽 편향은 0.003 안에서만 움직인다. 따로 골라도 된다.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36208" y="539496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10528" y="557784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편향이 0을 지나는 곳은 둘 다 0.62 근처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510528" y="5925312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c_LS ≈ 0.624, c_LQ ≈ 0.616 (0.58~0.68을 0.02 간격으로 다시 확인). MSE 최소도 같은 자리다.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결과 — 두 hazard를 동시에 만족하는 조건이 처음 나왔다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c_LS = c_LQ = 0.62 로 묶은 것을 조건 K라 부른다. 기존 15개 조건과 나란히 놓으면 이렇다.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34440"/>
                <a:gridCol w="603504"/>
                <a:gridCol w="960120"/>
                <a:gridCol w="1024128"/>
                <a:gridCol w="960120"/>
                <a:gridCol w="960120"/>
                <a:gridCol w="1024128"/>
                <a:gridCol w="960120"/>
                <a:gridCol w="295351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AUC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MSE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편향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AUC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MSE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편향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줄 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0.62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0.8352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0.1335 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0.1774 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눈금은 둘 다 완벽, 순위는 중간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0.1148 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0.2507 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순위 1위, LQ 눈금이 기저 미달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0.5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0.1429 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0.1932 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둘 다 과소예측이 남는다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b만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0.1469 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0.2217 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순위 1위, LQ 눈금이 처진다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유도식 c = 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0.3683 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0.2497 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둘 다 확률을 크게 부풀린다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4160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= MSE가 기저확률(LS 0.1881 / LQ 0.2494)보다 낮다.  ‘학습’은 prior의 a·b·c 중 학습하는 개수다.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66928" y="4572000"/>
            <a:ext cx="5394960" cy="1783080"/>
          </a:xfrm>
          <a:prstGeom prst="roundRect">
            <a:avLst>
              <a:gd name="adj" fmla="val 3077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4754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 하나뿐이다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5102352"/>
            <a:ext cx="4846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MSE가 동시에 기저확률을 밑돌면서 편향도 둘 다 0.004 안에 드는 조건은 K가 유일하다. C는 LQ MSE가 0.0013 차이로 기저를 못 넘고, E·J는 편향이 0.10~0.19 남는다. 게다가 K는 학습하는 prior 파라미터가 0개다 — 과적합할 자유도가 없다.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36208" y="4572000"/>
            <a:ext cx="5394960" cy="1783080"/>
          </a:xfrm>
          <a:prstGeom prst="roundRect">
            <a:avLst>
              <a:gd name="adj" fmla="val 3077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10528" y="4754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LS 순위 문제는 안 풀린다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6510528" y="5102352"/>
            <a:ext cx="4846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posterior AUC는 오히려 c ≈ 0.6에서 가장 낮다(0.8344). 자기 prior는 전 구간 0.885~0.897이라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보탠양이 c를 어떻게 골라도 음수다(−0.022 ~ −0.063).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c는 눈금 문제를 고치지 순위 문제를 고치지 못한다.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 AUC가 0.749에서 0.878이 된 이유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prior는 학습과 무관하므로 모델이 좋아진 것이 아니다. 재는 방법이 두 번 바뀌었고, 첫 판 숫자를 그대로 재현해 확인했다.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53949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554480"/>
                <a:gridCol w="13716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pooled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가중평균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 제외 (125행 · 5이벤트)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0.7486  ← 첫 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 포함 (418행 · 9이벤트)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0.8572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0.8778  ← 지금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314553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 복원이 +0.109,  pooled → 가중평균이 +0.021.  거의 전부가 NA 복원이다.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66928" y="352044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37033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판에는 음성이 20행뿐이었다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405079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9개 이벤트를 통틀어 음성이 20행이었고, 그중 4개 이벤트는 음성이 0개라 AUC를 잴 수조차 없어 통째로 빠져 있었다. 음성 2~4개짜리 AUC는 그 몇 개가 어디 놓이느냐로 정해진다.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50292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41248" y="52120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 → 0 규칙은 채점에만 쓰인다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841248" y="555955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학습(train)은 피해 통계와 USGS prior만 받는다. 정답(GT)은 한 번도 들어가지 않는다. 그래서 이 규칙은 LS의 AUC·MSE·편향·기저확률만 바꾸고 모델은 한 줄도 바꾸지 않는다.</a:t>
            </a:r>
            <a:endParaRPr lang="en-US" sz="12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6208" y="2048256"/>
          <a:ext cx="53949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68680"/>
                <a:gridCol w="960120"/>
                <a:gridCol w="868680"/>
                <a:gridCol w="8686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이벤트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 음성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 AUC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후 음성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후 AUC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2000 돗토리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2004 니가타현주에쓰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2007 니가타오키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977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측정 불가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2008 이와테미야기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977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측정 불가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2016 구마모토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2018 오사카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2018 훗카이도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2021 후쿠시마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977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측정 불가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2024 노토반도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977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측정 불가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6236208" y="52578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오사카는 음성 2개로 1.000이었다가 34개가 되자 0.759로 내려갔고, 구마모토는 3개로 0.641이었다가 14개가 되자 0.841로 올랐다. 방향이 제각각인 것이 곧 첫 판 값이 노이즈였다는 뜻이다.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6236208" y="589788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prior가 좋아진 것이 아니라, 우리가 제대로 못 재고 있었다.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항이 실제로 보탠 양 — 세 단계로 쪼개 보기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= USGS p̄ 단독(학습 전) · 자기 = 그 조건의 prior sigmoid(z) 단독 · posterior = 피해 데이터까지 통과. 가운데 두 칸의 차이가 면적 항의 기여, 마지막 두 칸의 차이가 피해 데이터의 기여다.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737360"/>
                <a:gridCol w="1051560"/>
                <a:gridCol w="1051560"/>
                <a:gridCol w="914400"/>
                <a:gridCol w="1051560"/>
                <a:gridCol w="1143000"/>
                <a:gridCol w="1051560"/>
                <a:gridCol w="260604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원값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자기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면적항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원값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자기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면적항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1·2·3번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 항이 없어 원값과 같다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4·5번 자연혼재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집합이 달라 원값부터 높다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fixed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유도식 c=1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tied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c/a=1이라 A와 순위가 같다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bounded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기여 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 free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0.7784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기여 최대 (c_LS를 0으로 내림)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 c=0.5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0.7570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 c=2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0.7687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면적을 과하게 넣어 순위가 나빠졌다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G·H·I·J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0.755~0.773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+0.039~0.057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2578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4406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항은 액상화에서 값을 한다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78815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기여는 +0.007~0.019로 작지만 LQ는 +0.039~0.063으로 5~8배 크다. 액상화 감수성이 충적층을 따라 넓게 퍼져 있어 면적이 더 많은 정보를 담기 때문으로 보인다.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52578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54406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과하게 넣으면 깎인다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78815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F(c=2)는 −0.040으로 원값보다 나쁘다. D는 c_LS를 0.006까지 내려 면적 항을 사실상 껐고, 그래서 LS 기여가 −0.000이다. 면적은 넣되 적당히 넣어야 한다.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한계와 다음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56232"/>
            <a:ext cx="201168" cy="2011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9264" y="17830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LS에서 피해 데이터가 보태는 것이 없다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21122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중 14개가 자기 prior보다 낮다. 왜 그런지가 다음 연구의 중심이어야 한다.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770632"/>
            <a:ext cx="201168" cy="201168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9264" y="26974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최적값은 찾았지만 왜 학습이 거기로 안 가는지는 모른다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30266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⑤에서 c ≈ 0.62가 눈금을 맞춘다는 것을 확인했다. 그런데 c를 학습시킨 D free는 c_LS를 0.006까지 내렸다 — 우도가 c를 눈금이 아니라 순위 쪽으로 끌고 갔다는 뜻이다.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3685032"/>
            <a:ext cx="201168" cy="201168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9264" y="36118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③·④·⑤를 서로 결합하지 않았다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39410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항과 c 스윕은 전부 기존(all) GT로 돌았고, 자연+혼재 GT와 한 번도 같이 쓰지 않았다.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599432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9264" y="45262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최대집계 + 면적 항을 안 해봤다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48554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좋은 LQ prior(0.8372)와 면적 항을 한 번도 같이 쓰지 않았다. 다만 λ = p̄·k 유도가 평균집계를 전제하므로 이론 정리가 먼저다.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5513832"/>
            <a:ext cx="201168" cy="201168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9264" y="54406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평가는 229행뿐이다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57698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LS는 418행으로 늘었지만 LQ는 GT 시트가 덮는 범위가 그대로다.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4008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재현:  python tools/build_dataset.py --area-from-usgs  →  python run_followup3.py --data-dir 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후속실험 3</dc:title>
  <dc:subject>PptxGenJS Presentation</dc:subject>
  <dc:creator>Pilot A</dc:creator>
  <cp:lastModifiedBy>Pilot A</cp:lastModifiedBy>
  <cp:revision>1</cp:revision>
  <dcterms:created xsi:type="dcterms:W3CDTF">2026-09-16T16:09:03Z</dcterms:created>
  <dcterms:modified xsi:type="dcterms:W3CDTF">2026-09-16T16:09:03Z</dcterms:modified>
</cp:coreProperties>
</file>